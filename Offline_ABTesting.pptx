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64" r:id="rId3"/>
    <p:sldId id="281" r:id="rId4"/>
    <p:sldId id="282" r:id="rId5"/>
    <p:sldId id="283" r:id="rId6"/>
    <p:sldId id="284" r:id="rId7"/>
    <p:sldId id="285" r:id="rId8"/>
    <p:sldId id="287" r:id="rId9"/>
    <p:sldId id="286" r:id="rId10"/>
    <p:sldId id="288" r:id="rId11"/>
    <p:sldId id="289" r:id="rId12"/>
    <p:sldId id="291" r:id="rId13"/>
    <p:sldId id="290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00" r:id="rId22"/>
    <p:sldId id="299" r:id="rId23"/>
    <p:sldId id="301" r:id="rId24"/>
    <p:sldId id="303" r:id="rId25"/>
    <p:sldId id="302" r:id="rId26"/>
    <p:sldId id="304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4"/>
    <p:restoredTop sz="94709"/>
  </p:normalViewPr>
  <p:slideViewPr>
    <p:cSldViewPr snapToGrid="0">
      <p:cViewPr>
        <p:scale>
          <a:sx n="108" d="100"/>
          <a:sy n="108" d="100"/>
        </p:scale>
        <p:origin x="47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00:59:12.8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39,'59'0,"-1"0,14 0,1 0,1 1,0-2,2 0,0-1,-5-1,-3-1,-13 0,-3 0,39-6,-14 5,-8 2,-5 1,2 2,4 0,0 0,2 0,0 0,6 3,11 9,9 5,-48-6,0 0,43 10,-17-9,-16-4,-15-6,-10-4,-8-7,-1-1,11 0,34 8,-23 6,4 3,11 2,0 1,-1 0,-1 1,-8-1,-1-1,36 3,-20-7,-11-3,-12 0,-8 0,-4 0,-7 0,-5-2,0 0,0 0,2 0,4 0,3 0,1 0,2 0,0 0,5 0,1 0,1 0,-3 0,-5 0,-1 0,1 0,6 0,5 0,2 0,-2 0,-3 0,-7 2,-6 0,-4 0,-4-1,-2 1,2 1,4 1,4 1,0-1,-1-1,-3-1,-3-2,-2 0,-2 0,-1 1,5 1,-4 0,3 0,-5-2,2 0,-2 0,4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9ED9-702A-6568-0F50-19C040521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C6743-3DA4-CB7D-BFB6-1A4617117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AB148-A733-0D7F-416E-4F0B3689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F0B1-7888-4770-6687-A2335F95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BC350-6BB3-888E-2B07-91C22E5F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3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4A78-21C7-F4B0-516D-D6761789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1BBE-D5E8-37EE-417D-348ADAFE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C6339-AAFF-09B6-1999-04314DE9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72AD2-3689-FF1F-557B-09E548C6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1FE7-BF32-CAA5-F661-C65E5E10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9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75B8-8E25-F980-6C35-8A51160F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07F50-6224-DAB5-CDDE-A7BD61AD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9845-2BB0-9E9A-5BAF-2BC935DA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CA16B-BCE9-87FF-F6CC-EFDF24E4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50F0-65A5-17A6-1814-805BD380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9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C260-A61E-9905-92E3-BB8A4C63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4989B-4DED-2075-21C1-3B939ACF5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60698-183D-7B22-E0B1-A632EF99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D9727-5CF9-424F-B73B-FD0E65B3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DD370-12A7-C0DA-FCFB-D6D28C53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DEC29-5343-F42D-CC9B-77CB3540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7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8B80-DA5A-A905-55DA-1768DC14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773CD-0446-40BC-C064-A9043095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03863-08D4-59C0-1812-069EDCACD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267D7-11C3-02FD-F628-4496B85B7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D6183-F156-8E68-0C58-0ABEC4DB2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06407-6D91-A3EB-E59C-AEA0D43F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AFEA3-431A-795E-3522-CCB9E64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7A69A-35C0-949F-EC5D-1D6EF0CE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4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D1DC-C3D3-9AFE-DAEA-0DA4C473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EC504-39F8-76AD-9001-CFCAA021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F93CC-445B-ADB1-81A3-3F875931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BA745-7F45-67B4-3F55-35D319ED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0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AF8C3-9D74-FE75-9853-518DF064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BBAD4-8ED4-B41C-23AD-74BF8BF0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08C19-9B02-7429-5C8E-43100D65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0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FDDA-8C3C-2362-2EDD-0AC5084B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1D58C-A1E7-680E-C168-02705859E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9AF9D-4847-A5A9-0F5E-615D63766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4CACD-6BE5-EEC6-F85A-5FB7A3F1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13E85-BA02-5349-2D4F-078058B6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DEADF-5FC2-ABAD-8F54-0CC35C0C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B1CD-C40F-F48D-C627-E35634F5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2244-3774-D40D-D3C8-C67D4D7E0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426C5-B3A0-CDA3-6DBE-3CF3F6D7A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1EE5A-38B2-31A9-55B0-0B40E277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AE7FA-266F-CA92-9248-6030124F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7093C-96B6-61E2-2B9E-5E0F038C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87D6-5DFB-5466-FA7C-7DD239F8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15DB5-A1E7-6BE2-B7E2-70D9BB39B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A07F4-2E7D-6957-79AE-08E1FF6A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44579-5C48-329D-EC4F-CECE8942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6426-6757-A92F-AD2C-EDD151DD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9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3B22E-4D07-AA23-1301-E526F53E5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D8D41-8279-7EEF-C16C-0CEB87F70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2F9F-A12D-7D4B-49FC-945E5A97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C5ED2-3214-051E-48E7-2D9AC612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42107-57DF-6D1A-2C06-DD50D4D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8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57EE6-8E58-3A1E-B424-12E75934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5A8F4-0C26-FC9B-392F-A4F58D1B2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F3AFB-4976-B5D5-FBB9-D5FBEE94C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DADC6-EB53-8D44-B9D9-598E5DD59B08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B8EE-07D1-D49E-9E7E-EF3657F8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DDFA9-EBCB-1E3A-C7FB-E66F811B1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47B8F-792A-9643-83D0-195BF3FF8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7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11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7A363-E824-51B8-6266-6FCCEB93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+mn-ea"/>
                <a:cs typeface="+mn-cs"/>
              </a:rPr>
              <a:t>Offline A/B Testing For Recommender Systems</a:t>
            </a:r>
          </a:p>
        </p:txBody>
      </p:sp>
      <p:sp>
        <p:nvSpPr>
          <p:cNvPr id="206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Why A/B Testing is Important for Website &amp; Marketing Success">
            <a:extLst>
              <a:ext uri="{FF2B5EF4-FFF2-40B4-BE49-F238E27FC236}">
                <a16:creationId xmlns:a16="http://schemas.microsoft.com/office/drawing/2014/main" id="{E25A742F-E93D-CCFF-7FAC-844574A02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567" y="2084546"/>
            <a:ext cx="8003766" cy="413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37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2081048" y="3105834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1. Background and Problem Definition</a:t>
            </a:r>
          </a:p>
        </p:txBody>
      </p:sp>
    </p:spTree>
    <p:extLst>
      <p:ext uri="{BB962C8B-B14F-4D97-AF65-F5344CB8AC3E}">
        <p14:creationId xmlns:p14="http://schemas.microsoft.com/office/powerpoint/2010/main" val="217381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3316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1.1. User Story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3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A streaming company currently uses a </a:t>
            </a:r>
            <a:r>
              <a:rPr lang="en-US" sz="2400" b="1" i="0" dirty="0">
                <a:effectLst/>
                <a:latin typeface="system-ui"/>
              </a:rPr>
              <a:t>popularity-based recommendation system</a:t>
            </a:r>
            <a:r>
              <a:rPr lang="en-US" sz="2400" b="0" i="0" dirty="0">
                <a:effectLst/>
                <a:latin typeface="system-ui"/>
              </a:rPr>
              <a:t> </a:t>
            </a:r>
          </a:p>
          <a:p>
            <a:pPr algn="ctr"/>
            <a:r>
              <a:rPr lang="en-US" sz="2400" b="0" i="0" dirty="0">
                <a:effectLst/>
                <a:latin typeface="system-ui"/>
              </a:rPr>
              <a:t>that suggests the same popular movies to all users. </a:t>
            </a:r>
            <a:endParaRPr lang="en-US" sz="2400" dirty="0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03BE04A3-D3F0-00A6-A46A-69DFAFA15FC4}"/>
              </a:ext>
            </a:extLst>
          </p:cNvPr>
          <p:cNvSpPr/>
          <p:nvPr/>
        </p:nvSpPr>
        <p:spPr>
          <a:xfrm>
            <a:off x="3508690" y="3357285"/>
            <a:ext cx="1001486" cy="304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C7666A77-4076-1FC4-2FB7-FF8483C0A9B0}"/>
              </a:ext>
            </a:extLst>
          </p:cNvPr>
          <p:cNvSpPr/>
          <p:nvPr/>
        </p:nvSpPr>
        <p:spPr>
          <a:xfrm>
            <a:off x="7567863" y="3272144"/>
            <a:ext cx="1001486" cy="3048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88" name="Picture 16" descr="Users Icon | Silky Line User Iconpack | Custom Icon Design">
            <a:extLst>
              <a:ext uri="{FF2B5EF4-FFF2-40B4-BE49-F238E27FC236}">
                <a16:creationId xmlns:a16="http://schemas.microsoft.com/office/drawing/2014/main" id="{EA9F5687-C5FE-41B0-29FB-329CF90ED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504" y="2371501"/>
            <a:ext cx="1780109" cy="178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6BB82C9C-E697-5D03-02E4-499129837BB4}"/>
              </a:ext>
            </a:extLst>
          </p:cNvPr>
          <p:cNvGrpSpPr/>
          <p:nvPr/>
        </p:nvGrpSpPr>
        <p:grpSpPr>
          <a:xfrm>
            <a:off x="5057331" y="2254448"/>
            <a:ext cx="2061501" cy="2815274"/>
            <a:chOff x="5008269" y="2355735"/>
            <a:chExt cx="2061501" cy="2815274"/>
          </a:xfrm>
        </p:grpSpPr>
        <p:pic>
          <p:nvPicPr>
            <p:cNvPr id="3084" name="Picture 12" descr="Half Star Ratings Stock Illustrations – 42 Half Star Ratings Stock  Illustrations, Vectors &amp; Clipart - Dreamstime">
              <a:extLst>
                <a:ext uri="{FF2B5EF4-FFF2-40B4-BE49-F238E27FC236}">
                  <a16:creationId xmlns:a16="http://schemas.microsoft.com/office/drawing/2014/main" id="{70E3DD27-EC3D-6439-933E-5CA736F0A3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0576"/>
            <a:stretch/>
          </p:blipFill>
          <p:spPr bwMode="auto">
            <a:xfrm>
              <a:off x="5008269" y="3349577"/>
              <a:ext cx="2061501" cy="3455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6" name="Picture 14" descr="Half Star Ratings Stock Illustrations – 42 Half Star Ratings Stock  Illustrations, Vectors &amp; Clipart - Dreamstime">
              <a:extLst>
                <a:ext uri="{FF2B5EF4-FFF2-40B4-BE49-F238E27FC236}">
                  <a16:creationId xmlns:a16="http://schemas.microsoft.com/office/drawing/2014/main" id="{AFF8335C-02F6-F972-13CC-34A568972D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50" b="81026"/>
            <a:stretch/>
          </p:blipFill>
          <p:spPr bwMode="auto">
            <a:xfrm>
              <a:off x="5029948" y="4832738"/>
              <a:ext cx="2018140" cy="3382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8" name="Picture 26" descr="Movie - Free cinema icons">
              <a:extLst>
                <a:ext uri="{FF2B5EF4-FFF2-40B4-BE49-F238E27FC236}">
                  <a16:creationId xmlns:a16="http://schemas.microsoft.com/office/drawing/2014/main" id="{F8E4C4D6-5A7E-40D2-BD2C-99E86B5FC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1447" y="2355735"/>
              <a:ext cx="855135" cy="855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6" descr="Movie - Free cinema icons">
              <a:extLst>
                <a:ext uri="{FF2B5EF4-FFF2-40B4-BE49-F238E27FC236}">
                  <a16:creationId xmlns:a16="http://schemas.microsoft.com/office/drawing/2014/main" id="{D26C6797-F69B-5CAE-32A1-B95319E427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1447" y="3833823"/>
              <a:ext cx="855135" cy="855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04" name="Picture 32" descr="Old Computer Icon Created Small Squares: стоковая векторная графика (без  лицензионных платежей), 1931133533 | Shutterstock">
            <a:extLst>
              <a:ext uri="{FF2B5EF4-FFF2-40B4-BE49-F238E27FC236}">
                <a16:creationId xmlns:a16="http://schemas.microsoft.com/office/drawing/2014/main" id="{88C45411-5EE4-C3E0-3034-1B053118D7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8"/>
          <a:stretch/>
        </p:blipFill>
        <p:spPr bwMode="auto">
          <a:xfrm>
            <a:off x="1295387" y="2638217"/>
            <a:ext cx="1634686" cy="16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5392215-5A77-7551-A0EC-8C92FE1A5BC0}"/>
              </a:ext>
            </a:extLst>
          </p:cNvPr>
          <p:cNvSpPr txBox="1"/>
          <p:nvPr/>
        </p:nvSpPr>
        <p:spPr>
          <a:xfrm>
            <a:off x="730205" y="4332533"/>
            <a:ext cx="2765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system-ui"/>
              </a:rPr>
              <a:t>Popularity-based </a:t>
            </a:r>
          </a:p>
          <a:p>
            <a:pPr algn="ctr"/>
            <a:r>
              <a:rPr lang="en-US" b="1" i="0" dirty="0">
                <a:effectLst/>
                <a:latin typeface="system-ui"/>
              </a:rPr>
              <a:t>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150076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3316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1.1. User Story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23111" y="5858611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a new </a:t>
            </a:r>
            <a:r>
              <a:rPr lang="en-US" sz="2400" b="1" i="0" dirty="0">
                <a:effectLst/>
                <a:latin typeface="system-ui"/>
              </a:rPr>
              <a:t>personalized ML-based recommender</a:t>
            </a:r>
            <a:r>
              <a:rPr lang="en-US" sz="2400" b="0" i="0" dirty="0">
                <a:effectLst/>
                <a:latin typeface="system-ui"/>
              </a:rPr>
              <a:t> </a:t>
            </a:r>
          </a:p>
          <a:p>
            <a:pPr algn="ctr"/>
            <a:r>
              <a:rPr lang="en-US" sz="2400" b="0" i="0" dirty="0">
                <a:effectLst/>
                <a:latin typeface="system-ui"/>
              </a:rPr>
              <a:t>using collaborative filtering that could improve user engagement.</a:t>
            </a:r>
            <a:endParaRPr lang="en-US" sz="2400" dirty="0"/>
          </a:p>
        </p:txBody>
      </p:sp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9A6EDF68-D3C4-89CB-D85A-1070DDBDF3DF}"/>
              </a:ext>
            </a:extLst>
          </p:cNvPr>
          <p:cNvGrpSpPr/>
          <p:nvPr/>
        </p:nvGrpSpPr>
        <p:grpSpPr>
          <a:xfrm>
            <a:off x="951419" y="1254310"/>
            <a:ext cx="9677167" cy="4349379"/>
            <a:chOff x="1062255" y="896500"/>
            <a:chExt cx="9677167" cy="434937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F40B31-89F2-923B-EA9F-278D54DD1B21}"/>
                </a:ext>
              </a:extLst>
            </p:cNvPr>
            <p:cNvSpPr txBox="1"/>
            <p:nvPr/>
          </p:nvSpPr>
          <p:spPr>
            <a:xfrm>
              <a:off x="1062255" y="3899647"/>
              <a:ext cx="247149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0" dirty="0">
                  <a:effectLst/>
                  <a:latin typeface="system-ui"/>
                </a:rPr>
                <a:t>personalized ML-based recommender</a:t>
              </a:r>
              <a:r>
                <a:rPr lang="en-US" b="0" i="0" dirty="0">
                  <a:effectLst/>
                  <a:latin typeface="system-ui"/>
                </a:rPr>
                <a:t> </a:t>
              </a:r>
              <a:endParaRPr lang="en-US" dirty="0"/>
            </a:p>
          </p:txBody>
        </p:sp>
        <p:pic>
          <p:nvPicPr>
            <p:cNvPr id="4102" name="Picture 6" descr="Machine Learning thin line icon. Creative simple design from artificial  intelligence icons collection. Outline machine learning icon for web design  Stock Photo - Alamy">
              <a:extLst>
                <a:ext uri="{FF2B5EF4-FFF2-40B4-BE49-F238E27FC236}">
                  <a16:creationId xmlns:a16="http://schemas.microsoft.com/office/drawing/2014/main" id="{014E8AAB-3F57-3C08-9090-76F129CB19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00" t="19333" r="27594" b="37881"/>
            <a:stretch/>
          </p:blipFill>
          <p:spPr bwMode="auto">
            <a:xfrm>
              <a:off x="1300179" y="2124734"/>
              <a:ext cx="1752600" cy="1754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4" name="Picture 8" descr="User icon, simple design 46010545 Vector Art at Vecteezy">
              <a:extLst>
                <a:ext uri="{FF2B5EF4-FFF2-40B4-BE49-F238E27FC236}">
                  <a16:creationId xmlns:a16="http://schemas.microsoft.com/office/drawing/2014/main" id="{2B15123C-5EF4-7703-4352-BF6902B01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9222" y="896500"/>
              <a:ext cx="1600200" cy="1600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8" descr="User icon, simple design 46010545 Vector Art at Vecteezy">
              <a:extLst>
                <a:ext uri="{FF2B5EF4-FFF2-40B4-BE49-F238E27FC236}">
                  <a16:creationId xmlns:a16="http://schemas.microsoft.com/office/drawing/2014/main" id="{6711EBB9-F9DF-E23A-2458-A81259BA61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9222" y="3573546"/>
              <a:ext cx="1600200" cy="1600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AB2D5C6-4CE9-38A8-396B-C6447563EC07}"/>
                </a:ext>
              </a:extLst>
            </p:cNvPr>
            <p:cNvCxnSpPr>
              <a:cxnSpLocks/>
              <a:stCxn id="4102" idx="3"/>
              <a:endCxn id="43" idx="1"/>
            </p:cNvCxnSpPr>
            <p:nvPr/>
          </p:nvCxnSpPr>
          <p:spPr>
            <a:xfrm flipV="1">
              <a:off x="3052779" y="1696600"/>
              <a:ext cx="2591079" cy="1305282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pic>
          <p:nvPicPr>
            <p:cNvPr id="43" name="Picture 26" descr="Movie - Free cinema icons">
              <a:extLst>
                <a:ext uri="{FF2B5EF4-FFF2-40B4-BE49-F238E27FC236}">
                  <a16:creationId xmlns:a16="http://schemas.microsoft.com/office/drawing/2014/main" id="{8AB16E22-F164-B49F-6F54-58F1A4D652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3858" y="1009033"/>
              <a:ext cx="1375134" cy="1375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6E7138A-4E16-69EB-F37B-99E4A3F29253}"/>
                </a:ext>
              </a:extLst>
            </p:cNvPr>
            <p:cNvCxnSpPr>
              <a:cxnSpLocks/>
              <a:stCxn id="43" idx="3"/>
              <a:endCxn id="4104" idx="1"/>
            </p:cNvCxnSpPr>
            <p:nvPr/>
          </p:nvCxnSpPr>
          <p:spPr>
            <a:xfrm>
              <a:off x="7018992" y="1696600"/>
              <a:ext cx="2120230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pic>
          <p:nvPicPr>
            <p:cNvPr id="51" name="Picture 26" descr="Movie - Free cinema icons">
              <a:extLst>
                <a:ext uri="{FF2B5EF4-FFF2-40B4-BE49-F238E27FC236}">
                  <a16:creationId xmlns:a16="http://schemas.microsoft.com/office/drawing/2014/main" id="{E58C82C7-2DAB-F94E-67B8-135BD7703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6310" y="3686079"/>
              <a:ext cx="1375134" cy="1375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9511538-82F2-264B-7C0B-3EF2F3899FBE}"/>
                </a:ext>
              </a:extLst>
            </p:cNvPr>
            <p:cNvCxnSpPr>
              <a:cxnSpLocks/>
              <a:stCxn id="4102" idx="3"/>
              <a:endCxn id="51" idx="1"/>
            </p:cNvCxnSpPr>
            <p:nvPr/>
          </p:nvCxnSpPr>
          <p:spPr>
            <a:xfrm>
              <a:off x="3052779" y="3001882"/>
              <a:ext cx="2573531" cy="1371764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FD6B47B-BE46-5BD5-CC21-7DE2E3B8A480}"/>
                </a:ext>
              </a:extLst>
            </p:cNvPr>
            <p:cNvCxnSpPr>
              <a:cxnSpLocks/>
              <a:stCxn id="51" idx="3"/>
              <a:endCxn id="3" idx="1"/>
            </p:cNvCxnSpPr>
            <p:nvPr/>
          </p:nvCxnSpPr>
          <p:spPr>
            <a:xfrm>
              <a:off x="7001444" y="4373646"/>
              <a:ext cx="2137778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2DED41D-7376-68A5-75B1-7D7C86487725}"/>
                </a:ext>
              </a:extLst>
            </p:cNvPr>
            <p:cNvSpPr txBox="1"/>
            <p:nvPr/>
          </p:nvSpPr>
          <p:spPr>
            <a:xfrm>
              <a:off x="9330980" y="2124734"/>
              <a:ext cx="12166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system-ui"/>
                </a:rPr>
                <a:t>User1</a:t>
              </a:r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66E9704-80BF-51B6-7632-402DFDDB64E8}"/>
                </a:ext>
              </a:extLst>
            </p:cNvPr>
            <p:cNvSpPr txBox="1"/>
            <p:nvPr/>
          </p:nvSpPr>
          <p:spPr>
            <a:xfrm>
              <a:off x="9330979" y="4876547"/>
              <a:ext cx="12166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system-ui"/>
                </a:rPr>
                <a:t>User2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498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1.</a:t>
            </a:r>
            <a:r>
              <a:rPr lang="en-US" altLang="ko-KR" sz="3600" b="1" dirty="0">
                <a:latin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</a:rPr>
              <a:t>. </a:t>
            </a:r>
            <a:r>
              <a:rPr lang="en-US" altLang="ko-KR" sz="3600" b="1" dirty="0">
                <a:latin typeface="Times New Roman" panose="02020603050405020304" pitchFamily="18" charset="0"/>
              </a:rPr>
              <a:t>Problem Definition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23111" y="5754243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Deploying the new system directly to production poses significant </a:t>
            </a:r>
            <a:r>
              <a:rPr lang="en-US" sz="2400" b="1" i="0" dirty="0">
                <a:effectLst/>
                <a:latin typeface="system-ui"/>
              </a:rPr>
              <a:t>risks</a:t>
            </a:r>
          </a:p>
        </p:txBody>
      </p:sp>
      <p:pic>
        <p:nvPicPr>
          <p:cNvPr id="5122" name="Picture 2" descr="Profit and loss Generic Grey icon | Freepik">
            <a:extLst>
              <a:ext uri="{FF2B5EF4-FFF2-40B4-BE49-F238E27FC236}">
                <a16:creationId xmlns:a16="http://schemas.microsoft.com/office/drawing/2014/main" id="{AA27A8B3-1EBB-49A1-168B-F3918AEC1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527" y="1967258"/>
            <a:ext cx="2457073" cy="245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ustomer Churn Stock Illustrations – 318 Customer Churn Stock  Illustrations, Vectors &amp; Clipart - Dreamstime">
            <a:extLst>
              <a:ext uri="{FF2B5EF4-FFF2-40B4-BE49-F238E27FC236}">
                <a16:creationId xmlns:a16="http://schemas.microsoft.com/office/drawing/2014/main" id="{C702C94D-AA78-8B86-58CB-B483CD4B6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92"/>
          <a:stretch/>
        </p:blipFill>
        <p:spPr bwMode="auto">
          <a:xfrm>
            <a:off x="4282440" y="1967258"/>
            <a:ext cx="2976880" cy="209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6+ Thousand Rollback Icon Royalty-Free Images, Stock Photos &amp; Pictures |  Shutterstock">
            <a:extLst>
              <a:ext uri="{FF2B5EF4-FFF2-40B4-BE49-F238E27FC236}">
                <a16:creationId xmlns:a16="http://schemas.microsoft.com/office/drawing/2014/main" id="{D7B42C17-8A08-850E-8820-4F0389972B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9"/>
          <a:stretch/>
        </p:blipFill>
        <p:spPr bwMode="auto">
          <a:xfrm>
            <a:off x="7884160" y="2125572"/>
            <a:ext cx="2079780" cy="206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9163B5-CD5B-C452-135A-51135D1813C7}"/>
              </a:ext>
            </a:extLst>
          </p:cNvPr>
          <p:cNvSpPr txBox="1"/>
          <p:nvPr/>
        </p:nvSpPr>
        <p:spPr>
          <a:xfrm>
            <a:off x="1398312" y="4244411"/>
            <a:ext cx="2061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ystem-ui"/>
              </a:rPr>
              <a:t>Revenue Loss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42DFC-ED95-69C5-B8F2-CB55C2541251}"/>
              </a:ext>
            </a:extLst>
          </p:cNvPr>
          <p:cNvSpPr txBox="1"/>
          <p:nvPr/>
        </p:nvSpPr>
        <p:spPr>
          <a:xfrm>
            <a:off x="4740129" y="4244411"/>
            <a:ext cx="2061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ystem-ui"/>
              </a:rPr>
              <a:t>User Churn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02EDC-578A-D3C9-A002-D092F803C873}"/>
              </a:ext>
            </a:extLst>
          </p:cNvPr>
          <p:cNvSpPr txBox="1"/>
          <p:nvPr/>
        </p:nvSpPr>
        <p:spPr>
          <a:xfrm>
            <a:off x="7771030" y="4244411"/>
            <a:ext cx="2306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ystem-ui"/>
              </a:rPr>
              <a:t>System Rollback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674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23111" y="5754243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The team needs to validate the new system's performance before production deployment through </a:t>
            </a:r>
            <a:r>
              <a:rPr lang="en-US" sz="2400" b="1" i="0" dirty="0">
                <a:effectLst/>
                <a:latin typeface="system-ui"/>
              </a:rPr>
              <a:t>offline A/B testing </a:t>
            </a:r>
            <a:r>
              <a:rPr lang="en-US" sz="2400" b="0" i="0" dirty="0">
                <a:effectLst/>
                <a:latin typeface="system-ui"/>
              </a:rPr>
              <a:t>using historical data.</a:t>
            </a:r>
          </a:p>
        </p:txBody>
      </p:sp>
      <p:pic>
        <p:nvPicPr>
          <p:cNvPr id="3" name="Picture 6" descr="Machine Learning thin line icon. Creative simple design from artificial  intelligence icons collection. Outline machine learning icon for web design  Stock Photo - Alamy">
            <a:extLst>
              <a:ext uri="{FF2B5EF4-FFF2-40B4-BE49-F238E27FC236}">
                <a16:creationId xmlns:a16="http://schemas.microsoft.com/office/drawing/2014/main" id="{805449A3-FE97-8BC9-CC97-A9CC2821AC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0" t="19333" r="27594" b="37881"/>
          <a:stretch/>
        </p:blipFill>
        <p:spPr bwMode="auto">
          <a:xfrm>
            <a:off x="1169762" y="3902749"/>
            <a:ext cx="1441902" cy="144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2" descr="Old Computer Icon Created Small Squares: стоковая векторная графика (без  лицензионных платежей), 1931133533 | Shutterstock">
            <a:extLst>
              <a:ext uri="{FF2B5EF4-FFF2-40B4-BE49-F238E27FC236}">
                <a16:creationId xmlns:a16="http://schemas.microsoft.com/office/drawing/2014/main" id="{E027A46B-60AA-460B-544E-D18C8B5CF2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8"/>
          <a:stretch/>
        </p:blipFill>
        <p:spPr bwMode="auto">
          <a:xfrm>
            <a:off x="1169762" y="2097967"/>
            <a:ext cx="1230538" cy="12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User icon, simple design 46010545 Vector Art at Vecteezy">
            <a:extLst>
              <a:ext uri="{FF2B5EF4-FFF2-40B4-BE49-F238E27FC236}">
                <a16:creationId xmlns:a16="http://schemas.microsoft.com/office/drawing/2014/main" id="{E209EFE3-45A6-4CF5-086C-DA0C90241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435" y="2794832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F4CB6D-56F6-53E2-4071-8BB615B3859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550467" y="2572515"/>
            <a:ext cx="1361063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8FF3DD-BA78-E7FE-4E3E-BF8BD867B9E9}"/>
              </a:ext>
            </a:extLst>
          </p:cNvPr>
          <p:cNvCxnSpPr>
            <a:cxnSpLocks/>
            <a:stCxn id="3" idx="3"/>
            <a:endCxn id="29" idx="1"/>
          </p:cNvCxnSpPr>
          <p:nvPr/>
        </p:nvCxnSpPr>
        <p:spPr>
          <a:xfrm flipV="1">
            <a:off x="2611664" y="4624397"/>
            <a:ext cx="1299866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25E8E-21C5-6CB7-95CC-D53998C3D9C9}"/>
              </a:ext>
            </a:extLst>
          </p:cNvPr>
          <p:cNvCxnSpPr>
            <a:cxnSpLocks/>
            <a:stCxn id="27" idx="3"/>
            <a:endCxn id="11" idx="1"/>
          </p:cNvCxnSpPr>
          <p:nvPr/>
        </p:nvCxnSpPr>
        <p:spPr>
          <a:xfrm>
            <a:off x="6045130" y="2572516"/>
            <a:ext cx="969305" cy="102241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7BD841-FD3F-64AE-7320-97DDC43FDDDB}"/>
              </a:ext>
            </a:extLst>
          </p:cNvPr>
          <p:cNvCxnSpPr>
            <a:cxnSpLocks/>
            <a:stCxn id="29" idx="3"/>
            <a:endCxn id="11" idx="1"/>
          </p:cNvCxnSpPr>
          <p:nvPr/>
        </p:nvCxnSpPr>
        <p:spPr>
          <a:xfrm flipV="1">
            <a:off x="5417602" y="3594932"/>
            <a:ext cx="1596833" cy="10294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7" name="Picture 16" descr="30 Most Iconic Movie Logos of All Time: Visual Cinematic Branding">
            <a:extLst>
              <a:ext uri="{FF2B5EF4-FFF2-40B4-BE49-F238E27FC236}">
                <a16:creationId xmlns:a16="http://schemas.microsoft.com/office/drawing/2014/main" id="{AE8712F8-F65A-43AC-0E0B-39692CC65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67" b="85068"/>
          <a:stretch/>
        </p:blipFill>
        <p:spPr bwMode="auto">
          <a:xfrm>
            <a:off x="3911530" y="2060505"/>
            <a:ext cx="2133600" cy="102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30 Most Iconic Movie Logos of All Time: Visual Cinematic Branding">
            <a:extLst>
              <a:ext uri="{FF2B5EF4-FFF2-40B4-BE49-F238E27FC236}">
                <a16:creationId xmlns:a16="http://schemas.microsoft.com/office/drawing/2014/main" id="{BA06044A-EB18-807E-C0FB-68F6F16ED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44155" r="60197" b="40913"/>
          <a:stretch/>
        </p:blipFill>
        <p:spPr bwMode="auto">
          <a:xfrm>
            <a:off x="3911530" y="4112386"/>
            <a:ext cx="1506072" cy="10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6" descr="30 Most Iconic Movie Logos of All Time: Visual Cinematic Branding">
            <a:extLst>
              <a:ext uri="{FF2B5EF4-FFF2-40B4-BE49-F238E27FC236}">
                <a16:creationId xmlns:a16="http://schemas.microsoft.com/office/drawing/2014/main" id="{619EBE56-7732-0803-4C5E-CD1465183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44155" r="60197" b="40913"/>
          <a:stretch/>
        </p:blipFill>
        <p:spPr bwMode="auto">
          <a:xfrm>
            <a:off x="9745543" y="3744410"/>
            <a:ext cx="1506072" cy="10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6" descr="30 Most Iconic Movie Logos of All Time: Visual Cinematic Branding">
            <a:extLst>
              <a:ext uri="{FF2B5EF4-FFF2-40B4-BE49-F238E27FC236}">
                <a16:creationId xmlns:a16="http://schemas.microsoft.com/office/drawing/2014/main" id="{CE5B9A01-9474-2946-B102-77AEB5757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67" b="85068"/>
          <a:stretch/>
        </p:blipFill>
        <p:spPr bwMode="auto">
          <a:xfrm>
            <a:off x="9431779" y="1899461"/>
            <a:ext cx="2133600" cy="102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2" descr="Half Star Ratings Stock Illustrations – 42 Half Star Ratings Stock  Illustrations, Vectors &amp; Clipart - Dreamstime">
            <a:extLst>
              <a:ext uri="{FF2B5EF4-FFF2-40B4-BE49-F238E27FC236}">
                <a16:creationId xmlns:a16="http://schemas.microsoft.com/office/drawing/2014/main" id="{46B92A0E-869F-1104-1CB8-3933A0D970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76"/>
          <a:stretch/>
        </p:blipFill>
        <p:spPr bwMode="auto">
          <a:xfrm>
            <a:off x="9503878" y="4768432"/>
            <a:ext cx="2061501" cy="34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4" descr="Half Star Ratings Stock Illustrations – 42 Half Star Ratings Stock  Illustrations, Vectors &amp; Clipart - Dreamstime">
            <a:extLst>
              <a:ext uri="{FF2B5EF4-FFF2-40B4-BE49-F238E27FC236}">
                <a16:creationId xmlns:a16="http://schemas.microsoft.com/office/drawing/2014/main" id="{0C80F89D-A61A-FD4C-EE0D-05E9E616B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0" b="81026"/>
          <a:stretch/>
        </p:blipFill>
        <p:spPr bwMode="auto">
          <a:xfrm>
            <a:off x="9547239" y="2923482"/>
            <a:ext cx="2018140" cy="33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FE77386-E8C3-5173-7DA6-E7A2E4F8E20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614635" y="3594932"/>
            <a:ext cx="651937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306BAB8-B265-F7DD-D650-D1ECA705758C}"/>
              </a:ext>
            </a:extLst>
          </p:cNvPr>
          <p:cNvSpPr/>
          <p:nvPr/>
        </p:nvSpPr>
        <p:spPr>
          <a:xfrm>
            <a:off x="3708687" y="1745382"/>
            <a:ext cx="25392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A Recommends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23BD5C-BFE6-80B4-AE3E-1C55FE1167A0}"/>
              </a:ext>
            </a:extLst>
          </p:cNvPr>
          <p:cNvSpPr/>
          <p:nvPr/>
        </p:nvSpPr>
        <p:spPr>
          <a:xfrm>
            <a:off x="3362390" y="3704096"/>
            <a:ext cx="25392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B Recommends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329E54A-7BC8-D2B0-0DE2-D59DC48DBD5D}"/>
              </a:ext>
            </a:extLst>
          </p:cNvPr>
          <p:cNvSpPr/>
          <p:nvPr/>
        </p:nvSpPr>
        <p:spPr>
          <a:xfrm>
            <a:off x="8400665" y="3712276"/>
            <a:ext cx="124508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rates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1.</a:t>
            </a:r>
            <a:r>
              <a:rPr lang="en-US" altLang="ko-KR" sz="3600" b="1" dirty="0">
                <a:latin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</a:rPr>
              <a:t>. </a:t>
            </a:r>
            <a:r>
              <a:rPr lang="en-US" altLang="ko-KR" sz="3600" b="1" dirty="0">
                <a:latin typeface="Times New Roman" panose="02020603050405020304" pitchFamily="18" charset="0"/>
              </a:rPr>
              <a:t>Problem Definition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646223" y="5911406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</a:rPr>
              <a:t>MovieLens</a:t>
            </a:r>
            <a:r>
              <a:rPr lang="en-US" sz="2400" b="1" dirty="0">
                <a:effectLst/>
              </a:rPr>
              <a:t> dataset</a:t>
            </a:r>
            <a:r>
              <a:rPr lang="en-US" sz="2400" dirty="0">
                <a:effectLst/>
              </a:rPr>
              <a:t> from </a:t>
            </a:r>
            <a:r>
              <a:rPr lang="en-US" sz="2400" dirty="0" err="1">
                <a:effectLst/>
              </a:rPr>
              <a:t>GroupLens</a:t>
            </a:r>
            <a:r>
              <a:rPr lang="en-US" sz="2400" dirty="0">
                <a:effectLst/>
              </a:rPr>
              <a:t>: 32M user ratings, large-scale movie rating data.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1.</a:t>
            </a:r>
            <a:r>
              <a:rPr lang="en-US" altLang="ko-KR" sz="3600" b="1" dirty="0">
                <a:latin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</a:rPr>
              <a:t>. Dataset</a:t>
            </a:r>
          </a:p>
        </p:txBody>
      </p:sp>
      <p:pic>
        <p:nvPicPr>
          <p:cNvPr id="7170" name="Picture 2" descr="The MovieLens dataset - Hands-On Recommendation Systems with Python [Book]">
            <a:extLst>
              <a:ext uri="{FF2B5EF4-FFF2-40B4-BE49-F238E27FC236}">
                <a16:creationId xmlns:a16="http://schemas.microsoft.com/office/drawing/2014/main" id="{595D76AC-377F-5961-D09B-8460086D5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557" y="1564788"/>
            <a:ext cx="3984842" cy="3648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sv file - Free files and folders icons">
            <a:extLst>
              <a:ext uri="{FF2B5EF4-FFF2-40B4-BE49-F238E27FC236}">
                <a16:creationId xmlns:a16="http://schemas.microsoft.com/office/drawing/2014/main" id="{6AB149DF-3CF8-4E87-1BAB-CB3E51425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671" y="1828345"/>
            <a:ext cx="2963333" cy="29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3ADB41-19B3-06DF-94E3-AC8CC2209689}"/>
              </a:ext>
            </a:extLst>
          </p:cNvPr>
          <p:cNvSpPr txBox="1"/>
          <p:nvPr/>
        </p:nvSpPr>
        <p:spPr>
          <a:xfrm>
            <a:off x="7327229" y="4982644"/>
            <a:ext cx="3109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latin typeface="system-ui"/>
              </a:rPr>
              <a:t>MovieLens</a:t>
            </a:r>
            <a:r>
              <a:rPr lang="en-US" sz="2400" b="1" dirty="0">
                <a:latin typeface="system-ui"/>
              </a:rPr>
              <a:t> 32M (2023)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362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2081048" y="3105834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</a:rPr>
              <a:t>2. Data Wrangling</a:t>
            </a:r>
          </a:p>
        </p:txBody>
      </p:sp>
    </p:spTree>
    <p:extLst>
      <p:ext uri="{BB962C8B-B14F-4D97-AF65-F5344CB8AC3E}">
        <p14:creationId xmlns:p14="http://schemas.microsoft.com/office/powerpoint/2010/main" val="177946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646223" y="5911406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system-ui"/>
              </a:rPr>
              <a:t>S</a:t>
            </a:r>
            <a:r>
              <a:rPr lang="en-US" sz="2400" b="0" i="0" dirty="0">
                <a:effectLst/>
                <a:latin typeface="system-ui"/>
              </a:rPr>
              <a:t>ampled </a:t>
            </a:r>
            <a:r>
              <a:rPr lang="en-US" sz="2400" b="1" i="0" dirty="0">
                <a:effectLst/>
                <a:latin typeface="system-ui"/>
              </a:rPr>
              <a:t>20,000 users</a:t>
            </a:r>
            <a:r>
              <a:rPr lang="en-US" sz="2400" b="0" i="0" dirty="0">
                <a:effectLst/>
                <a:latin typeface="system-ui"/>
              </a:rPr>
              <a:t> from the original 200,948 users, resulting in </a:t>
            </a:r>
            <a:r>
              <a:rPr lang="en-US" sz="2400" b="1" i="0" dirty="0">
                <a:effectLst/>
                <a:latin typeface="system-ui"/>
              </a:rPr>
              <a:t>3.2 million ratings</a:t>
            </a:r>
            <a:r>
              <a:rPr lang="en-US" sz="2400" b="0" i="0" dirty="0">
                <a:effectLst/>
                <a:latin typeface="system-ui"/>
              </a:rPr>
              <a:t>.</a:t>
            </a:r>
            <a:endParaRPr lang="en-US" sz="2400" dirty="0">
              <a:effectLst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2.1. Data loading</a:t>
            </a:r>
          </a:p>
        </p:txBody>
      </p:sp>
      <p:pic>
        <p:nvPicPr>
          <p:cNvPr id="4" name="Picture 4" descr="Csv file - Free files and folders icons">
            <a:extLst>
              <a:ext uri="{FF2B5EF4-FFF2-40B4-BE49-F238E27FC236}">
                <a16:creationId xmlns:a16="http://schemas.microsoft.com/office/drawing/2014/main" id="{2B375484-1155-E4C9-DE61-8AA5FFBA1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231" y="1847851"/>
            <a:ext cx="2599214" cy="259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0455E-20B6-1DC5-4E87-697C95CB6371}"/>
              </a:ext>
            </a:extLst>
          </p:cNvPr>
          <p:cNvSpPr txBox="1"/>
          <p:nvPr/>
        </p:nvSpPr>
        <p:spPr>
          <a:xfrm>
            <a:off x="1606231" y="4552170"/>
            <a:ext cx="3109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system-ui"/>
              </a:rPr>
              <a:t>MovieLens</a:t>
            </a:r>
            <a:r>
              <a:rPr lang="en-US" b="1" dirty="0">
                <a:latin typeface="system-ui"/>
              </a:rPr>
              <a:t> 32M (2023)</a:t>
            </a:r>
          </a:p>
          <a:p>
            <a:pPr algn="ctr"/>
            <a:r>
              <a:rPr lang="en-US" b="1" dirty="0"/>
              <a:t>239 MB</a:t>
            </a:r>
          </a:p>
        </p:txBody>
      </p:sp>
      <p:pic>
        <p:nvPicPr>
          <p:cNvPr id="7" name="Picture 4" descr="Csv file - Free files and folders icons">
            <a:extLst>
              <a:ext uri="{FF2B5EF4-FFF2-40B4-BE49-F238E27FC236}">
                <a16:creationId xmlns:a16="http://schemas.microsoft.com/office/drawing/2014/main" id="{59BD4468-F997-C143-C46C-AB6AEB3D9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880" y="2228850"/>
            <a:ext cx="1845631" cy="184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31E1FB-BC96-951B-833F-658771EF6CDF}"/>
              </a:ext>
            </a:extLst>
          </p:cNvPr>
          <p:cNvSpPr txBox="1"/>
          <p:nvPr/>
        </p:nvSpPr>
        <p:spPr>
          <a:xfrm>
            <a:off x="7699088" y="4464220"/>
            <a:ext cx="3109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system-ui"/>
              </a:rPr>
              <a:t>sampled_movie_data</a:t>
            </a:r>
            <a:endParaRPr lang="en-US" b="1" dirty="0">
              <a:latin typeface="system-ui"/>
            </a:endParaRPr>
          </a:p>
          <a:p>
            <a:pPr algn="ctr"/>
            <a:r>
              <a:rPr lang="en-US" b="1" dirty="0"/>
              <a:t>139 MB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1D0A303-C082-2C23-116F-F02172F14B19}"/>
              </a:ext>
            </a:extLst>
          </p:cNvPr>
          <p:cNvSpPr/>
          <p:nvPr/>
        </p:nvSpPr>
        <p:spPr>
          <a:xfrm>
            <a:off x="5380474" y="3134506"/>
            <a:ext cx="1845631" cy="56171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40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646223" y="580137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Historical user interactions used to simulate </a:t>
            </a:r>
            <a:r>
              <a:rPr lang="en-US" sz="2400" b="1" dirty="0"/>
              <a:t>Model A (logging policy) </a:t>
            </a:r>
          </a:p>
          <a:p>
            <a:pPr algn="ctr"/>
            <a:r>
              <a:rPr lang="en-US" sz="2400" dirty="0"/>
              <a:t>and evaluate </a:t>
            </a:r>
            <a:r>
              <a:rPr lang="en-US" sz="2400" b="1" dirty="0"/>
              <a:t>Model B (new policy)</a:t>
            </a:r>
            <a:r>
              <a:rPr lang="en-US" sz="2400" dirty="0"/>
              <a:t> offline.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2.1. Data loading</a:t>
            </a:r>
          </a:p>
        </p:txBody>
      </p:sp>
      <p:pic>
        <p:nvPicPr>
          <p:cNvPr id="7" name="Picture 4" descr="Csv file - Free files and folders icons">
            <a:extLst>
              <a:ext uri="{FF2B5EF4-FFF2-40B4-BE49-F238E27FC236}">
                <a16:creationId xmlns:a16="http://schemas.microsoft.com/office/drawing/2014/main" id="{59BD4468-F997-C143-C46C-AB6AEB3D9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213" y="2393780"/>
            <a:ext cx="1845631" cy="184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31E1FB-BC96-951B-833F-658771EF6CDF}"/>
              </a:ext>
            </a:extLst>
          </p:cNvPr>
          <p:cNvSpPr txBox="1"/>
          <p:nvPr/>
        </p:nvSpPr>
        <p:spPr>
          <a:xfrm>
            <a:off x="341422" y="4464220"/>
            <a:ext cx="3109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system-ui"/>
              </a:rPr>
              <a:t>sampled_movie_data.csv</a:t>
            </a:r>
            <a:endParaRPr lang="en-US" b="1" dirty="0">
              <a:latin typeface="system-ui"/>
            </a:endParaRPr>
          </a:p>
          <a:p>
            <a:pPr algn="ctr"/>
            <a:r>
              <a:rPr lang="en-US" b="1" dirty="0"/>
              <a:t>139 MB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17018-A296-6BF4-1F1A-7FC68DD62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976" y="2850990"/>
            <a:ext cx="8143888" cy="23359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783153-E5CE-B859-67D6-DCABA8E96858}"/>
                  </a:ext>
                </a:extLst>
              </p14:cNvPr>
              <p14:cNvContentPartPr/>
              <p14:nvPr/>
            </p14:nvContentPartPr>
            <p14:xfrm>
              <a:off x="6167060" y="3374095"/>
              <a:ext cx="1530360" cy="71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783153-E5CE-B859-67D6-DCABA8E968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3420" y="3266455"/>
                <a:ext cx="1638000" cy="2872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5F40F08-E4CA-534B-5EEC-7F7876F7209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2" b="-4267"/>
          <a:stretch/>
        </p:blipFill>
        <p:spPr>
          <a:xfrm>
            <a:off x="5351855" y="1824877"/>
            <a:ext cx="4482129" cy="53629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0431B3-0D51-A502-2304-7D464FAD89B9}"/>
              </a:ext>
            </a:extLst>
          </p:cNvPr>
          <p:cNvCxnSpPr>
            <a:cxnSpLocks/>
            <a:stCxn id="9" idx="2"/>
            <a:endCxn id="2" idx="0"/>
          </p:cNvCxnSpPr>
          <p:nvPr/>
        </p:nvCxnSpPr>
        <p:spPr>
          <a:xfrm>
            <a:off x="7592920" y="2361174"/>
            <a:ext cx="0" cy="48981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75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2.</a:t>
            </a:r>
            <a:r>
              <a:rPr lang="en-US" altLang="ko-KR" sz="3600" b="1" dirty="0">
                <a:latin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</a:rPr>
              <a:t>. Train/Test Split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93B9C-AB39-52E8-5D08-66DA150C3C2F}"/>
              </a:ext>
            </a:extLst>
          </p:cNvPr>
          <p:cNvSpPr txBox="1"/>
          <p:nvPr/>
        </p:nvSpPr>
        <p:spPr>
          <a:xfrm>
            <a:off x="1478116" y="5833978"/>
            <a:ext cx="1071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 prevent </a:t>
            </a:r>
            <a:r>
              <a:rPr lang="en-US" sz="2400" b="1" dirty="0"/>
              <a:t>data leakage</a:t>
            </a:r>
            <a:r>
              <a:rPr lang="en-US" sz="2400" dirty="0"/>
              <a:t>: Training on future data to predict the past is invalid.</a:t>
            </a:r>
          </a:p>
        </p:txBody>
      </p:sp>
      <p:pic>
        <p:nvPicPr>
          <p:cNvPr id="8" name="Picture 2" descr="Time based splitting and determining if Train &amp; Test data come from the  same distribution | by Manraj Chalokia | Medium">
            <a:extLst>
              <a:ext uri="{FF2B5EF4-FFF2-40B4-BE49-F238E27FC236}">
                <a16:creationId xmlns:a16="http://schemas.microsoft.com/office/drawing/2014/main" id="{EDED9415-D9C3-C3E4-D438-3429C50E9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69"/>
          <a:stretch/>
        </p:blipFill>
        <p:spPr bwMode="auto">
          <a:xfrm>
            <a:off x="3040910" y="2109952"/>
            <a:ext cx="5770433" cy="263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710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6612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2.</a:t>
            </a:r>
            <a:r>
              <a:rPr lang="en-US" altLang="ko-KR" sz="3600" b="1" dirty="0">
                <a:latin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</a:rPr>
              <a:t>. </a:t>
            </a:r>
            <a:r>
              <a:rPr lang="en-US" altLang="ko-KR" sz="3600" b="1" dirty="0">
                <a:latin typeface="Times New Roman" panose="02020603050405020304" pitchFamily="18" charset="0"/>
              </a:rPr>
              <a:t>Model A: Popularity-Based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93B9C-AB39-52E8-5D08-66DA150C3C2F}"/>
              </a:ext>
            </a:extLst>
          </p:cNvPr>
          <p:cNvSpPr txBox="1"/>
          <p:nvPr/>
        </p:nvSpPr>
        <p:spPr>
          <a:xfrm>
            <a:off x="1218708" y="5833977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Model A </a:t>
            </a:r>
            <a:r>
              <a:rPr lang="en-US" sz="2400" dirty="0"/>
              <a:t>recommends highly-rated popular movies </a:t>
            </a:r>
            <a:r>
              <a:rPr lang="en-US" sz="2400" b="1" dirty="0"/>
              <a:t>consistently to all users</a:t>
            </a:r>
          </a:p>
          <a:p>
            <a:pPr algn="ctr"/>
            <a:r>
              <a:rPr lang="en-US" sz="2400" dirty="0"/>
              <a:t>Non-personalized baseline that </a:t>
            </a:r>
            <a:r>
              <a:rPr lang="en-US" sz="2400" b="1" dirty="0"/>
              <a:t>ignores individual user preferences</a:t>
            </a:r>
            <a:r>
              <a:rPr lang="en-US" sz="2400" dirty="0"/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D433AA-2E90-207E-2068-76381043B657}"/>
              </a:ext>
            </a:extLst>
          </p:cNvPr>
          <p:cNvGrpSpPr/>
          <p:nvPr/>
        </p:nvGrpSpPr>
        <p:grpSpPr>
          <a:xfrm>
            <a:off x="1745230" y="2886920"/>
            <a:ext cx="2765049" cy="2340647"/>
            <a:chOff x="1218708" y="2625787"/>
            <a:chExt cx="2765049" cy="2340647"/>
          </a:xfrm>
        </p:grpSpPr>
        <p:pic>
          <p:nvPicPr>
            <p:cNvPr id="2" name="Picture 32" descr="Old Computer Icon Created Small Squares: стоковая векторная графика (без  лицензионных платежей), 1931133533 | Shutterstock">
              <a:extLst>
                <a:ext uri="{FF2B5EF4-FFF2-40B4-BE49-F238E27FC236}">
                  <a16:creationId xmlns:a16="http://schemas.microsoft.com/office/drawing/2014/main" id="{788A8278-5742-F175-7BAC-F8F9F880C5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48"/>
            <a:stretch/>
          </p:blipFill>
          <p:spPr bwMode="auto">
            <a:xfrm>
              <a:off x="1783890" y="2625787"/>
              <a:ext cx="1634686" cy="16064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B3C908-273F-580D-B481-27801927040F}"/>
                </a:ext>
              </a:extLst>
            </p:cNvPr>
            <p:cNvSpPr txBox="1"/>
            <p:nvPr/>
          </p:nvSpPr>
          <p:spPr>
            <a:xfrm>
              <a:off x="1218708" y="4320103"/>
              <a:ext cx="276504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0" dirty="0">
                  <a:effectLst/>
                  <a:latin typeface="system-ui"/>
                </a:rPr>
                <a:t>Popularity-based </a:t>
              </a:r>
            </a:p>
            <a:p>
              <a:pPr algn="ctr"/>
              <a:r>
                <a:rPr lang="en-US" b="1" i="0" dirty="0">
                  <a:effectLst/>
                  <a:latin typeface="system-ui"/>
                </a:rPr>
                <a:t>Recommendation System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1FA3674-EC49-E86E-E0F6-077A3AD8F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944" y="1470768"/>
            <a:ext cx="5137348" cy="3597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E36A9F-6384-1F45-62D9-572F62800F18}"/>
              </a:ext>
            </a:extLst>
          </p:cNvPr>
          <p:cNvSpPr txBox="1"/>
          <p:nvPr/>
        </p:nvSpPr>
        <p:spPr>
          <a:xfrm>
            <a:off x="5949663" y="4996735"/>
            <a:ext cx="49099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ystem-ui"/>
              </a:rPr>
              <a:t>Model A: Top Recommended Movies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251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6612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2.</a:t>
            </a:r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 </a:t>
            </a:r>
            <a:r>
              <a:rPr lang="en-US" altLang="ko-KR" sz="3600" b="1" dirty="0">
                <a:latin typeface="Times New Roman" panose="02020603050405020304" pitchFamily="18" charset="0"/>
              </a:rPr>
              <a:t>Model B: SVD-Based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93B9C-AB39-52E8-5D08-66DA150C3C2F}"/>
              </a:ext>
            </a:extLst>
          </p:cNvPr>
          <p:cNvSpPr txBox="1"/>
          <p:nvPr/>
        </p:nvSpPr>
        <p:spPr>
          <a:xfrm>
            <a:off x="1218708" y="5833977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Model B</a:t>
            </a:r>
            <a:r>
              <a:rPr lang="en-US" sz="2400" dirty="0"/>
              <a:t> uses </a:t>
            </a:r>
            <a:r>
              <a:rPr lang="en-US" sz="2400" b="1" dirty="0"/>
              <a:t>SVD</a:t>
            </a:r>
            <a:r>
              <a:rPr lang="en-US" sz="2400" dirty="0"/>
              <a:t> to predict ratings based on </a:t>
            </a:r>
          </a:p>
          <a:p>
            <a:pPr algn="ctr"/>
            <a:r>
              <a:rPr lang="en-US" sz="2400" dirty="0"/>
              <a:t>User 1's historical preferences and similar users' behavior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36A9F-6384-1F45-62D9-572F62800F18}"/>
              </a:ext>
            </a:extLst>
          </p:cNvPr>
          <p:cNvSpPr txBox="1"/>
          <p:nvPr/>
        </p:nvSpPr>
        <p:spPr>
          <a:xfrm>
            <a:off x="5358363" y="5016222"/>
            <a:ext cx="5743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ystem-ui"/>
              </a:rPr>
              <a:t>Model B: Personalized Recommendations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684D6-BFCB-9740-860A-AD626613B8E3}"/>
              </a:ext>
            </a:extLst>
          </p:cNvPr>
          <p:cNvSpPr txBox="1"/>
          <p:nvPr/>
        </p:nvSpPr>
        <p:spPr>
          <a:xfrm>
            <a:off x="1971327" y="4260937"/>
            <a:ext cx="2471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system-ui"/>
              </a:rPr>
              <a:t>personalized ML-based recommender</a:t>
            </a:r>
            <a:r>
              <a:rPr lang="en-US" b="0" i="0" dirty="0">
                <a:effectLst/>
                <a:latin typeface="system-ui"/>
              </a:rPr>
              <a:t> </a:t>
            </a:r>
            <a:endParaRPr lang="en-US" dirty="0"/>
          </a:p>
        </p:txBody>
      </p:sp>
      <p:pic>
        <p:nvPicPr>
          <p:cNvPr id="10" name="Picture 6" descr="Machine Learning thin line icon. Creative simple design from artificial  intelligence icons collection. Outline machine learning icon for web design  Stock Photo - Alamy">
            <a:extLst>
              <a:ext uri="{FF2B5EF4-FFF2-40B4-BE49-F238E27FC236}">
                <a16:creationId xmlns:a16="http://schemas.microsoft.com/office/drawing/2014/main" id="{4AD47078-A00D-A19A-60E4-95A4AA087A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0" t="19333" r="27594" b="37881"/>
          <a:stretch/>
        </p:blipFill>
        <p:spPr bwMode="auto">
          <a:xfrm>
            <a:off x="2209251" y="2486024"/>
            <a:ext cx="1752600" cy="175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D8B053-6F2E-A85F-D1EA-FA3AADADE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426" y="1610945"/>
            <a:ext cx="5251449" cy="329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73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2081048" y="3105834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</a:rPr>
              <a:t>3. EDA</a:t>
            </a:r>
          </a:p>
        </p:txBody>
      </p:sp>
    </p:spTree>
    <p:extLst>
      <p:ext uri="{BB962C8B-B14F-4D97-AF65-F5344CB8AC3E}">
        <p14:creationId xmlns:p14="http://schemas.microsoft.com/office/powerpoint/2010/main" val="312203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7967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3.1. </a:t>
            </a:r>
            <a:r>
              <a:rPr lang="en-US" altLang="ko-KR" sz="3600" b="1" dirty="0">
                <a:latin typeface="Times New Roman" panose="02020603050405020304" pitchFamily="18" charset="0"/>
              </a:rPr>
              <a:t>Probability Distribution - Model A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93B9C-AB39-52E8-5D08-66DA150C3C2F}"/>
              </a:ext>
            </a:extLst>
          </p:cNvPr>
          <p:cNvSpPr txBox="1"/>
          <p:nvPr/>
        </p:nvSpPr>
        <p:spPr>
          <a:xfrm>
            <a:off x="1218708" y="5833977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system-ui"/>
              </a:rPr>
              <a:t>Model A</a:t>
            </a:r>
            <a:r>
              <a:rPr lang="en-US" sz="2400" i="0" dirty="0">
                <a:effectLst/>
                <a:latin typeface="system-ui"/>
              </a:rPr>
              <a:t>'s recommendations shows </a:t>
            </a:r>
            <a:r>
              <a:rPr lang="en-US" sz="2400" b="1" i="0" dirty="0">
                <a:effectLst/>
                <a:latin typeface="system-ui"/>
              </a:rPr>
              <a:t>extreme bias</a:t>
            </a:r>
            <a:r>
              <a:rPr lang="en-US" sz="2400" i="0" dirty="0">
                <a:effectLst/>
                <a:latin typeface="system-ui"/>
              </a:rPr>
              <a:t>.</a:t>
            </a:r>
          </a:p>
          <a:p>
            <a:pPr algn="ctr"/>
            <a:r>
              <a:rPr lang="en-US" sz="2400" i="0" dirty="0">
                <a:effectLst/>
                <a:latin typeface="system-ui"/>
              </a:rPr>
              <a:t>Model A repeatedly recommends the same popular movies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7A547E-3549-EF65-D224-86C482981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8" y="1840886"/>
            <a:ext cx="5783553" cy="3419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79FB2A-48D6-DFAA-2950-5ABD1074C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2" y="1840885"/>
            <a:ext cx="5664680" cy="3419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2886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7967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3.1. </a:t>
            </a:r>
            <a:r>
              <a:rPr lang="en-US" altLang="ko-KR" sz="3600" b="1" dirty="0">
                <a:latin typeface="Times New Roman" panose="02020603050405020304" pitchFamily="18" charset="0"/>
              </a:rPr>
              <a:t>Probability Distribution - Model B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93B9C-AB39-52E8-5D08-66DA150C3C2F}"/>
              </a:ext>
            </a:extLst>
          </p:cNvPr>
          <p:cNvSpPr txBox="1"/>
          <p:nvPr/>
        </p:nvSpPr>
        <p:spPr>
          <a:xfrm>
            <a:off x="997482" y="5666960"/>
            <a:ext cx="10713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Model B shows </a:t>
            </a:r>
            <a:r>
              <a:rPr lang="en-US" sz="2400" b="1" i="0" dirty="0">
                <a:effectLst/>
                <a:latin typeface="system-ui"/>
              </a:rPr>
              <a:t>less extreme bias</a:t>
            </a:r>
            <a:r>
              <a:rPr lang="en-US" sz="2400" b="0" i="0" dirty="0">
                <a:effectLst/>
                <a:latin typeface="system-ui"/>
              </a:rPr>
              <a:t> compared to Model A</a:t>
            </a:r>
          </a:p>
          <a:p>
            <a:pPr algn="ctr"/>
            <a:r>
              <a:rPr lang="en-US" sz="2400" b="0" i="0" dirty="0">
                <a:effectLst/>
                <a:latin typeface="system-ui"/>
              </a:rPr>
              <a:t>To obtain unbiased performance estimates, apply </a:t>
            </a:r>
            <a:r>
              <a:rPr lang="en-US" sz="2400" b="1" i="0" dirty="0">
                <a:effectLst/>
                <a:latin typeface="system-ui"/>
              </a:rPr>
              <a:t>Inverse Propensity Scoring (IPS)</a:t>
            </a:r>
            <a:endParaRPr lang="en-US" sz="2400" i="0" dirty="0">
              <a:effectLst/>
              <a:latin typeface="system-u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56104-55E4-3353-2E90-2A3863350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0" y="1967577"/>
            <a:ext cx="5378399" cy="3171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B2A72E-4CAA-DB73-B5D2-800AFBCF7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650" y="1972317"/>
            <a:ext cx="4918622" cy="3166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0618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2081048" y="3105834"/>
            <a:ext cx="80299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</a:rPr>
              <a:t>4.  Offline A/B Testing with </a:t>
            </a:r>
            <a:br>
              <a:rPr lang="en-US" sz="3600" b="1" dirty="0">
                <a:latin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</a:rPr>
              <a:t>Inverse Propensity Scoring (IPS)</a:t>
            </a:r>
          </a:p>
        </p:txBody>
      </p:sp>
    </p:spTree>
    <p:extLst>
      <p:ext uri="{BB962C8B-B14F-4D97-AF65-F5344CB8AC3E}">
        <p14:creationId xmlns:p14="http://schemas.microsoft.com/office/powerpoint/2010/main" val="2831342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2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Model B evaluation is biased</a:t>
            </a:r>
            <a:r>
              <a:rPr lang="en-US" sz="2400" dirty="0"/>
              <a:t>. </a:t>
            </a:r>
          </a:p>
          <a:p>
            <a:pPr algn="ctr"/>
            <a:r>
              <a:rPr lang="en-US" sz="2400" dirty="0"/>
              <a:t>because historical data was generated by Model A, so we apply IPS to correct this bias.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.1. </a:t>
            </a:r>
            <a:r>
              <a:rPr lang="en-US" altLang="ko-KR" sz="3600" b="1" dirty="0">
                <a:latin typeface="Times New Roman" panose="02020603050405020304" pitchFamily="18" charset="0"/>
              </a:rPr>
              <a:t>IPS (=IPW)</a:t>
            </a:r>
            <a:endParaRPr lang="en-US" sz="3600" b="1" dirty="0">
              <a:latin typeface="Times New Roman" panose="02020603050405020304" pitchFamily="18" charset="0"/>
            </a:endParaRP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3389C389-AC82-567D-0084-7F7A4ECA69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6"/>
          <a:stretch/>
        </p:blipFill>
        <p:spPr bwMode="auto">
          <a:xfrm>
            <a:off x="532356" y="1843385"/>
            <a:ext cx="11127288" cy="338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408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2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Model B's estimate is significantly lower than Model A</a:t>
            </a:r>
          </a:p>
          <a:p>
            <a:pPr algn="ctr"/>
            <a:r>
              <a:rPr lang="en-US" sz="2400" b="0" i="0" dirty="0">
                <a:effectLst/>
                <a:latin typeface="system-ui"/>
              </a:rPr>
              <a:t>To investigate this unexpected result, we </a:t>
            </a:r>
            <a:r>
              <a:rPr lang="en-US" sz="2400" b="1" i="0" dirty="0">
                <a:effectLst/>
                <a:latin typeface="system-ui"/>
              </a:rPr>
              <a:t>analyze the weight distribution</a:t>
            </a:r>
            <a:r>
              <a:rPr lang="en-US" sz="2400" b="0" i="0" dirty="0">
                <a:effectLst/>
                <a:latin typeface="system-ui"/>
              </a:rPr>
              <a:t>.</a:t>
            </a:r>
            <a:endParaRPr lang="en-US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.2. Basic IPS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E816E-76FA-6867-A007-D9BEE682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1276209"/>
            <a:ext cx="5259211" cy="41209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34FE6-5715-7EF1-EDD4-62F6838FDB8C}"/>
                  </a:ext>
                </a:extLst>
              </p:cNvPr>
              <p:cNvSpPr txBox="1"/>
              <p:nvPr/>
            </p:nvSpPr>
            <p:spPr>
              <a:xfrm>
                <a:off x="601780" y="2699778"/>
                <a:ext cx="4878259" cy="17390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latin typeface="Cambria Math" panose="02040503050406030204" pitchFamily="18" charset="0"/>
                      </a:rPr>
                      <m:t>W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eight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𝑁𝑒𝑤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𝑀𝑜𝑑𝑒𝑙</m:t>
                            </m:r>
                          </m:e>
                        </m: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𝑂𝑙𝑑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𝑀𝑜𝑑𝑒𝑙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800" b="0" dirty="0"/>
                  <a:t> * Reward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Basic IPS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b="0" dirty="0"/>
                  <a:t> </a:t>
                </a:r>
                <a:r>
                  <a:rPr lang="en-US" sz="2800" dirty="0"/>
                  <a:t>∑(</a:t>
                </a:r>
                <a:r>
                  <a:rPr lang="en-US" sz="2800" dirty="0" err="1"/>
                  <a:t>Weight</a:t>
                </a:r>
                <a:r>
                  <a:rPr lang="en-US" sz="2800" baseline="-25000" dirty="0" err="1"/>
                  <a:t>i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34FE6-5715-7EF1-EDD4-62F6838FD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80" y="2699778"/>
                <a:ext cx="4878259" cy="1739066"/>
              </a:xfrm>
              <a:prstGeom prst="rect">
                <a:avLst/>
              </a:prstGeom>
              <a:blipFill>
                <a:blip r:embed="rId3"/>
                <a:stretch>
                  <a:fillRect l="-4416" t="-725" r="-3377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266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2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Basic IPS suffers from </a:t>
            </a:r>
            <a:r>
              <a:rPr lang="en-US" sz="2400" b="1" i="0" dirty="0">
                <a:effectLst/>
                <a:latin typeface="system-ui"/>
              </a:rPr>
              <a:t>high variance</a:t>
            </a:r>
            <a:r>
              <a:rPr lang="en-US" sz="2400" b="0" i="0" dirty="0">
                <a:effectLst/>
                <a:latin typeface="system-ui"/>
              </a:rPr>
              <a:t> due to these extreme importance weights.</a:t>
            </a:r>
          </a:p>
          <a:p>
            <a:pPr algn="ctr"/>
            <a:r>
              <a:rPr lang="en-US" sz="2400" dirty="0">
                <a:effectLst/>
                <a:latin typeface="system-ui"/>
              </a:rPr>
              <a:t>apply </a:t>
            </a:r>
            <a:r>
              <a:rPr lang="en-US" sz="2400" b="1" dirty="0">
                <a:effectLst/>
                <a:latin typeface="system-ui"/>
              </a:rPr>
              <a:t>Capped IPS</a:t>
            </a:r>
            <a:r>
              <a:rPr lang="en-US" sz="2400" dirty="0">
                <a:effectLst/>
                <a:latin typeface="system-ui"/>
              </a:rPr>
              <a:t> to limit extreme weights and reduce variance.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.2. Basic IPS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AE661-4B5E-7124-FB06-A49B5BEDF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87520"/>
            <a:ext cx="7772400" cy="429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28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2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Model B's estimate is significantly lower than Model A</a:t>
            </a:r>
          </a:p>
          <a:p>
            <a:pPr algn="ctr"/>
            <a:r>
              <a:rPr lang="en-US" sz="2400" b="0" i="0" dirty="0">
                <a:effectLst/>
                <a:latin typeface="system-ui"/>
              </a:rPr>
              <a:t>To investigate this unexpected result, we </a:t>
            </a:r>
            <a:r>
              <a:rPr lang="en-US" sz="2400" b="1" i="0" dirty="0">
                <a:effectLst/>
                <a:latin typeface="system-ui"/>
              </a:rPr>
              <a:t>analyze the weight distribution</a:t>
            </a:r>
            <a:r>
              <a:rPr lang="en-US" sz="2400" b="0" i="0" dirty="0">
                <a:effectLst/>
                <a:latin typeface="system-ui"/>
              </a:rPr>
              <a:t>.</a:t>
            </a:r>
            <a:endParaRPr lang="en-US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.3. </a:t>
            </a:r>
            <a:r>
              <a:rPr lang="en-US" altLang="ko-KR" sz="3600" b="1" dirty="0">
                <a:latin typeface="Times New Roman" panose="02020603050405020304" pitchFamily="18" charset="0"/>
              </a:rPr>
              <a:t>Capped</a:t>
            </a:r>
            <a:r>
              <a:rPr lang="en-US" sz="3600" b="1" dirty="0">
                <a:latin typeface="Times New Roman" panose="02020603050405020304" pitchFamily="18" charset="0"/>
              </a:rPr>
              <a:t> IPS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3B8F53-9F12-885B-70BC-30ABA779DE57}"/>
                  </a:ext>
                </a:extLst>
              </p:cNvPr>
              <p:cNvSpPr txBox="1"/>
              <p:nvPr/>
            </p:nvSpPr>
            <p:spPr>
              <a:xfrm>
                <a:off x="727552" y="3109449"/>
                <a:ext cx="4732514" cy="62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𝐶𝑎𝑝𝑝𝑒𝑑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𝐼𝑃𝑆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r>
                        <m:rPr>
                          <m:nor/>
                        </m:rPr>
                        <a:rPr lang="en-US" sz="2000" dirty="0"/>
                        <m:t>(</m:t>
                      </m:r>
                      <m:r>
                        <m:rPr>
                          <m:nor/>
                        </m:rPr>
                        <a:rPr lang="en-US" sz="2000" dirty="0"/>
                        <m:t>min</m:t>
                      </m:r>
                      <m:r>
                        <m:rPr>
                          <m:nor/>
                        </m:rPr>
                        <a:rPr lang="en-US" sz="2000" dirty="0"/>
                        <m:t>(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20)∗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𝑅𝑒𝑤𝑎𝑟𝑑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3B8F53-9F12-885B-70BC-30ABA779D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52" y="3109449"/>
                <a:ext cx="4732514" cy="628505"/>
              </a:xfrm>
              <a:prstGeom prst="rect">
                <a:avLst/>
              </a:prstGeom>
              <a:blipFill>
                <a:blip r:embed="rId2"/>
                <a:stretch>
                  <a:fillRect l="-1337" r="-1070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440CF0B-B2BA-D287-7501-8AFFD5E35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98" y="1295400"/>
            <a:ext cx="5259212" cy="404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7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41422" y="5649312"/>
            <a:ext cx="11545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he capped weight distribution shows </a:t>
            </a:r>
            <a:r>
              <a:rPr lang="en-US" sz="2400" b="1" i="0" dirty="0">
                <a:effectLst/>
                <a:latin typeface="system-ui"/>
              </a:rPr>
              <a:t>improved variance</a:t>
            </a:r>
            <a:endParaRPr lang="en-US" sz="2400" b="0" i="0" dirty="0">
              <a:effectLst/>
              <a:latin typeface="system-ui"/>
            </a:endParaRPr>
          </a:p>
          <a:p>
            <a:pPr algn="ctr"/>
            <a:r>
              <a:rPr lang="en-US" sz="2400" b="0" i="0" dirty="0">
                <a:effectLst/>
                <a:latin typeface="system-ui"/>
              </a:rPr>
              <a:t>Model B's estimate worsened. Apply </a:t>
            </a:r>
            <a:r>
              <a:rPr lang="en-US" sz="2400" b="1" i="0" dirty="0">
                <a:effectLst/>
                <a:latin typeface="system-ui"/>
              </a:rPr>
              <a:t>Normalized IPS</a:t>
            </a:r>
            <a:endParaRPr lang="en-US" sz="2400" dirty="0">
              <a:effectLst/>
              <a:latin typeface="system-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DF03A9-D1D7-F64B-E0B6-DD573CCF01D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.3. </a:t>
            </a:r>
            <a:r>
              <a:rPr lang="en-US" altLang="ko-KR" sz="3600" b="1" dirty="0">
                <a:latin typeface="Times New Roman" panose="02020603050405020304" pitchFamily="18" charset="0"/>
              </a:rPr>
              <a:t>Capped</a:t>
            </a:r>
            <a:r>
              <a:rPr lang="en-US" sz="3600" b="1" dirty="0">
                <a:latin typeface="Times New Roman" panose="02020603050405020304" pitchFamily="18" charset="0"/>
              </a:rPr>
              <a:t> IPS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68C30-DA41-D802-3676-DDC9C0E5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4644"/>
            <a:ext cx="7772400" cy="414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49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23111" y="5858391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Model B outperforms Model A by approximately </a:t>
            </a:r>
            <a:r>
              <a:rPr lang="en-US" sz="2400" b="1" i="0" dirty="0">
                <a:effectLst/>
                <a:latin typeface="system-ui"/>
              </a:rPr>
              <a:t>+0.20 points (+5.6%)</a:t>
            </a:r>
            <a:r>
              <a:rPr lang="en-US" sz="2400" b="0" i="0" dirty="0">
                <a:effectLst/>
                <a:latin typeface="system-ui"/>
              </a:rPr>
              <a:t>.</a:t>
            </a:r>
            <a:endParaRPr lang="en-US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5398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</a:rPr>
              <a:t>.4. Normalized IPS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3B8F53-9F12-885B-70BC-30ABA779DE57}"/>
                  </a:ext>
                </a:extLst>
              </p:cNvPr>
              <p:cNvSpPr txBox="1"/>
              <p:nvPr/>
            </p:nvSpPr>
            <p:spPr>
              <a:xfrm>
                <a:off x="727552" y="3109449"/>
                <a:ext cx="4278401" cy="11251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𝑁𝑜𝑟𝑚𝑎𝑙𝑖𝑧𝑒𝑑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𝐼𝑃𝑆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(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𝑅𝑒𝑤𝑎𝑟𝑑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(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3B8F53-9F12-885B-70BC-30ABA779D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52" y="3109449"/>
                <a:ext cx="4278401" cy="1125180"/>
              </a:xfrm>
              <a:prstGeom prst="rect">
                <a:avLst/>
              </a:prstGeom>
              <a:blipFill>
                <a:blip r:embed="rId2"/>
                <a:stretch>
                  <a:fillRect t="-1111" r="-296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BD0F7E3-99B4-3817-6F2A-D54B57F75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857" y="1115989"/>
            <a:ext cx="5110254" cy="398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1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2081048" y="3105834"/>
            <a:ext cx="8029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</a:rPr>
              <a:t>5. Conclusion</a:t>
            </a:r>
          </a:p>
        </p:txBody>
      </p:sp>
    </p:spTree>
    <p:extLst>
      <p:ext uri="{BB962C8B-B14F-4D97-AF65-F5344CB8AC3E}">
        <p14:creationId xmlns:p14="http://schemas.microsoft.com/office/powerpoint/2010/main" val="431031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23111" y="5858391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 </a:t>
            </a:r>
            <a:r>
              <a:rPr lang="en-US" sz="2400" b="1" i="0" dirty="0">
                <a:effectLst/>
                <a:latin typeface="system-ui"/>
              </a:rPr>
              <a:t>Model B </a:t>
            </a:r>
            <a:r>
              <a:rPr lang="en-US" sz="2400" b="0" i="0" dirty="0">
                <a:effectLst/>
                <a:latin typeface="system-ui"/>
              </a:rPr>
              <a:t>demonstrates </a:t>
            </a:r>
            <a:r>
              <a:rPr lang="en-US" sz="2400" b="1" i="0" dirty="0">
                <a:effectLst/>
                <a:latin typeface="system-ui"/>
              </a:rPr>
              <a:t>superior performance over</a:t>
            </a:r>
            <a:r>
              <a:rPr lang="en-US" sz="2400" b="0" i="0" dirty="0">
                <a:effectLst/>
                <a:latin typeface="system-ui"/>
              </a:rPr>
              <a:t> the popularity-based baseline </a:t>
            </a:r>
            <a:r>
              <a:rPr lang="en-US" sz="2400" b="1" i="0" dirty="0">
                <a:effectLst/>
                <a:latin typeface="system-ui"/>
              </a:rPr>
              <a:t>Model A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76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5. 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EE52F-C4C4-ABCA-0B70-1F866A23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61" y="1334196"/>
            <a:ext cx="6500247" cy="421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28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9A8565-5BBF-6445-6CDC-035491EC46CB}"/>
              </a:ext>
            </a:extLst>
          </p:cNvPr>
          <p:cNvSpPr txBox="1"/>
          <p:nvPr/>
        </p:nvSpPr>
        <p:spPr>
          <a:xfrm>
            <a:off x="323111" y="5858391"/>
            <a:ext cx="11545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system-ui"/>
              </a:rPr>
              <a:t>To enhance user satisfaction, </a:t>
            </a:r>
            <a:r>
              <a:rPr lang="en-US" sz="2400" dirty="0">
                <a:latin typeface="system-ui"/>
              </a:rPr>
              <a:t>I </a:t>
            </a:r>
            <a:r>
              <a:rPr lang="en-US" sz="2400" b="0" i="0" dirty="0">
                <a:effectLst/>
                <a:latin typeface="system-ui"/>
              </a:rPr>
              <a:t>recommend deploying Model B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C21F8B-F1AE-1127-F350-3253060FF41D}"/>
              </a:ext>
            </a:extLst>
          </p:cNvPr>
          <p:cNvSpPr txBox="1"/>
          <p:nvPr/>
        </p:nvSpPr>
        <p:spPr>
          <a:xfrm>
            <a:off x="341422" y="377691"/>
            <a:ext cx="76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5. Conclusion</a:t>
            </a:r>
          </a:p>
        </p:txBody>
      </p:sp>
      <p:pic>
        <p:nvPicPr>
          <p:cNvPr id="2" name="Picture 6" descr="Machine Learning thin line icon. Creative simple design from artificial  intelligence icons collection. Outline machine learning icon for web design  Stock Photo - Alamy">
            <a:extLst>
              <a:ext uri="{FF2B5EF4-FFF2-40B4-BE49-F238E27FC236}">
                <a16:creationId xmlns:a16="http://schemas.microsoft.com/office/drawing/2014/main" id="{8131EA4B-BD8A-0AA3-659E-FA9B385A2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0" t="19333" r="27594" b="37881"/>
          <a:stretch/>
        </p:blipFill>
        <p:spPr bwMode="auto">
          <a:xfrm>
            <a:off x="6747316" y="2590109"/>
            <a:ext cx="1867173" cy="186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2" descr="Old Computer Icon Created Small Squares: стоковая векторная графика (без  лицензионных платежей), 1931133533 | Shutterstock">
            <a:extLst>
              <a:ext uri="{FF2B5EF4-FFF2-40B4-BE49-F238E27FC236}">
                <a16:creationId xmlns:a16="http://schemas.microsoft.com/office/drawing/2014/main" id="{0A2103D2-EDB3-EFBE-459C-C6FDE5B202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8"/>
          <a:stretch/>
        </p:blipFill>
        <p:spPr bwMode="auto">
          <a:xfrm>
            <a:off x="2920381" y="2746024"/>
            <a:ext cx="1634686" cy="16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AF9F81-0BB2-E6EE-0C7C-8F49B1F2A82E}"/>
              </a:ext>
            </a:extLst>
          </p:cNvPr>
          <p:cNvSpPr txBox="1"/>
          <p:nvPr/>
        </p:nvSpPr>
        <p:spPr>
          <a:xfrm>
            <a:off x="2183117" y="4459088"/>
            <a:ext cx="3109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system-ui"/>
              </a:rPr>
              <a:t>Baseline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3B68A-BD60-2001-2560-382339EB3645}"/>
              </a:ext>
            </a:extLst>
          </p:cNvPr>
          <p:cNvSpPr txBox="1"/>
          <p:nvPr/>
        </p:nvSpPr>
        <p:spPr>
          <a:xfrm>
            <a:off x="6126295" y="4459088"/>
            <a:ext cx="3109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system-ui"/>
              </a:rPr>
              <a:t>New Model</a:t>
            </a:r>
            <a:endParaRPr lang="en-US" sz="2800" b="1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4C24301-B6E7-DAEF-5FB8-8C6005656227}"/>
              </a:ext>
            </a:extLst>
          </p:cNvPr>
          <p:cNvSpPr/>
          <p:nvPr/>
        </p:nvSpPr>
        <p:spPr>
          <a:xfrm rot="10800000">
            <a:off x="8440367" y="2358281"/>
            <a:ext cx="484632" cy="978408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04BF43-C129-A8A2-7E9F-A3EF3D61BFEC}"/>
              </a:ext>
            </a:extLst>
          </p:cNvPr>
          <p:cNvSpPr/>
          <p:nvPr/>
        </p:nvSpPr>
        <p:spPr>
          <a:xfrm>
            <a:off x="8924999" y="2346260"/>
            <a:ext cx="20778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+5.6 %</a:t>
            </a:r>
          </a:p>
        </p:txBody>
      </p:sp>
    </p:spTree>
    <p:extLst>
      <p:ext uri="{BB962C8B-B14F-4D97-AF65-F5344CB8AC3E}">
        <p14:creationId xmlns:p14="http://schemas.microsoft.com/office/powerpoint/2010/main" val="2266476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26D6AE-351E-64A5-2A9D-E16427A78AC7}"/>
              </a:ext>
            </a:extLst>
          </p:cNvPr>
          <p:cNvSpPr txBox="1"/>
          <p:nvPr/>
        </p:nvSpPr>
        <p:spPr>
          <a:xfrm>
            <a:off x="341423" y="377691"/>
            <a:ext cx="1043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</a:rPr>
              <a:t>References</a:t>
            </a:r>
            <a:endParaRPr lang="en-US" sz="3600" b="1" i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1507B-3E01-9665-7665-5342E7005106}"/>
              </a:ext>
            </a:extLst>
          </p:cNvPr>
          <p:cNvSpPr txBox="1"/>
          <p:nvPr/>
        </p:nvSpPr>
        <p:spPr>
          <a:xfrm>
            <a:off x="831272" y="1845747"/>
            <a:ext cx="108619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 err="1"/>
              <a:t>Gilotte</a:t>
            </a:r>
            <a:r>
              <a:rPr lang="en-US" sz="2400" i="1" dirty="0"/>
              <a:t>, A., </a:t>
            </a:r>
            <a:r>
              <a:rPr lang="en-US" sz="2400" i="1" dirty="0" err="1"/>
              <a:t>Calauzènes</a:t>
            </a:r>
            <a:r>
              <a:rPr lang="en-US" sz="2400" i="1" dirty="0"/>
              <a:t>, C., </a:t>
            </a:r>
            <a:r>
              <a:rPr lang="en-US" sz="2400" i="1" dirty="0" err="1"/>
              <a:t>Nedelec</a:t>
            </a:r>
            <a:r>
              <a:rPr lang="en-US" sz="2400" i="1" dirty="0"/>
              <a:t>, T., Abraham, A., &amp; </a:t>
            </a:r>
            <a:r>
              <a:rPr lang="en-US" sz="2400" i="1" dirty="0" err="1"/>
              <a:t>Dollé</a:t>
            </a:r>
            <a:r>
              <a:rPr lang="en-US" sz="2400" i="1" dirty="0"/>
              <a:t>, S. (2018).</a:t>
            </a:r>
          </a:p>
          <a:p>
            <a:r>
              <a:rPr lang="en-US" sz="2400" i="1" dirty="0"/>
              <a:t>“Offline A/B testing for Recommender Systems.”</a:t>
            </a:r>
          </a:p>
          <a:p>
            <a:r>
              <a:rPr lang="en-US" sz="2400" i="1" dirty="0"/>
              <a:t>Proceedings of the Eleventh ACM International Conference on Web Search and Data Mining (WSDM '18). https://</a:t>
            </a:r>
            <a:r>
              <a:rPr lang="en-US" sz="2400" i="1" dirty="0" err="1"/>
              <a:t>doi.org</a:t>
            </a:r>
            <a:r>
              <a:rPr lang="en-US" sz="2400" i="1" dirty="0"/>
              <a:t>/10.1145/3159652.3159687</a:t>
            </a:r>
          </a:p>
        </p:txBody>
      </p:sp>
    </p:spTree>
    <p:extLst>
      <p:ext uri="{BB962C8B-B14F-4D97-AF65-F5344CB8AC3E}">
        <p14:creationId xmlns:p14="http://schemas.microsoft.com/office/powerpoint/2010/main" val="85733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640</Words>
  <Application>Microsoft Macintosh PowerPoint</Application>
  <PresentationFormat>Widescreen</PresentationFormat>
  <Paragraphs>93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system-ui</vt:lpstr>
      <vt:lpstr>Arial</vt:lpstr>
      <vt:lpstr>Calibri</vt:lpstr>
      <vt:lpstr>Calibri Light</vt:lpstr>
      <vt:lpstr>Cambria Math</vt:lpstr>
      <vt:lpstr>Times New Roman</vt:lpstr>
      <vt:lpstr>Office Theme</vt:lpstr>
      <vt:lpstr>Offline A/B Testing For Recommender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JOO HO KIM</dc:creator>
  <cp:lastModifiedBy>JOO HO KIM</cp:lastModifiedBy>
  <cp:revision>445</cp:revision>
  <dcterms:created xsi:type="dcterms:W3CDTF">2025-10-09T22:35:55Z</dcterms:created>
  <dcterms:modified xsi:type="dcterms:W3CDTF">2025-11-22T06:53:28Z</dcterms:modified>
</cp:coreProperties>
</file>